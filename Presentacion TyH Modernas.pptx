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n Zoia" userId="71600c2ff7d8d98f" providerId="LiveId" clId="{ECA117CC-3037-457C-99C9-82F395494366}"/>
    <pc:docChg chg="modSld sldOrd">
      <pc:chgData name="Julian Zoia" userId="71600c2ff7d8d98f" providerId="LiveId" clId="{ECA117CC-3037-457C-99C9-82F395494366}" dt="2026-04-29T18:22:51.544" v="1"/>
      <pc:docMkLst>
        <pc:docMk/>
      </pc:docMkLst>
      <pc:sldChg chg="ord">
        <pc:chgData name="Julian Zoia" userId="71600c2ff7d8d98f" providerId="LiveId" clId="{ECA117CC-3037-457C-99C9-82F395494366}" dt="2026-04-29T18:22:51.544" v="1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Burbuja vs Sort Nativo en 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r>
              <a:t>Clasica y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¿Qué comparamos?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Comparamos dos métodos de ordenamiento:</a:t>
            </a:r>
          </a:p>
          <a:p>
            <a:pPr lvl="0"/>
            <a:r>
              <a:rPr b="1"/>
              <a:t>Burbuja</a:t>
            </a:r>
            <a:r>
              <a:t>: algoritmo manual O(n²)</a:t>
            </a:r>
          </a:p>
          <a:p>
            <a:pPr lvl="0"/>
            <a:r>
              <a:rPr b="1"/>
              <a:t>sort()</a:t>
            </a:r>
            <a:r>
              <a:t>: función nativa de R (altamente optimizada)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Preparación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require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"microbenchmark"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"microbenchmark"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require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4758AB"/>
                </a:solidFill>
                <a:latin typeface="Courier"/>
              </a:rPr>
              <a:t>install.packages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(microbenchmark)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(ggplot2)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El algoritmo Burbuja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bubble_sort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(x)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n &lt;- 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(i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(n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 b="1">
                <a:solidFill>
                  <a:srgbClr val="003B4F"/>
                </a:solidFill>
                <a:latin typeface="Courier"/>
              </a:rPr>
              <a:t>for</a:t>
            </a:r>
            <a:r>
              <a:rPr>
                <a:solidFill>
                  <a:srgbClr val="003B4F"/>
                </a:solidFill>
                <a:latin typeface="Courier"/>
              </a:rPr>
              <a:t> (j </a:t>
            </a:r>
            <a:r>
              <a:rPr b="1">
                <a:solidFill>
                  <a:srgbClr val="003B4F"/>
                </a:solidFill>
                <a:latin typeface="Courier"/>
              </a:rPr>
              <a:t>in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(n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i))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 b="1">
                <a:solidFill>
                  <a:srgbClr val="003B4F"/>
                </a:solidFill>
                <a:latin typeface="Courier"/>
              </a:rPr>
              <a:t>if</a:t>
            </a:r>
            <a:r>
              <a:rPr>
                <a:solidFill>
                  <a:srgbClr val="003B4F"/>
                </a:solidFill>
                <a:latin typeface="Courier"/>
              </a:rPr>
              <a:t> (x[j]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x[j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temp &lt;- x[j]; x[j] &lt;- x[j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]; x[j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&lt;- temp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}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 prueba de rendimiento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datos_prueba &lt;- </a:t>
            </a:r>
            <a:r>
              <a:rPr>
                <a:solidFill>
                  <a:srgbClr val="4758AB"/>
                </a:solidFill>
                <a:latin typeface="Courier"/>
              </a:rPr>
              <a:t>runif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500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 &lt;- </a:t>
            </a:r>
            <a:r>
              <a:rPr>
                <a:solidFill>
                  <a:srgbClr val="4758AB"/>
                </a:solidFill>
                <a:latin typeface="Courier"/>
              </a:rPr>
              <a:t>microbenchmark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Burbuja    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bubble_sort</a:t>
            </a:r>
            <a:r>
              <a:rPr>
                <a:solidFill>
                  <a:srgbClr val="003B4F"/>
                </a:solidFill>
                <a:latin typeface="Courier"/>
              </a:rPr>
              <a:t>(datos_prueba),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Sort_Nativo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sort</a:t>
            </a:r>
            <a:r>
              <a:rPr>
                <a:solidFill>
                  <a:srgbClr val="003B4F"/>
                </a:solidFill>
                <a:latin typeface="Courier"/>
              </a:rPr>
              <a:t>(datos_prueba),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times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(res)</a:t>
            </a:r>
          </a:p>
          <a:p>
            <a:pPr lvl="0" indent="0">
              <a:buNone/>
            </a:pPr>
            <a:r>
              <a:rPr>
                <a:latin typeface="Courier"/>
              </a:rPr>
              <a:t>Unit: microseconds
        expr      min       lq       mean    median       uq      max neval
     Burbuja 13284.90 13570.40 15880.4784 13632.550 15586.81 23327.73     5
 Sort_Nativo    59.76    81.03   124.8738    91.189   141.72   250.67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Visualización</a:t>
            </a:r>
          </a:p>
        </p:txBody>
      </p:sp>
      <p:pic>
        <p:nvPicPr>
          <p:cNvPr id="3" name="Picture 1" descr="comparar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números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52189"/>
            <a:ext cx="7924800" cy="1082133"/>
          </a:xfrm>
        </p:spPr>
        <p:txBody>
          <a:bodyPr>
            <a:normAutofit fontScale="475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         expr      min       </a:t>
            </a:r>
            <a:r>
              <a:rPr dirty="0" err="1">
                <a:latin typeface="Courier"/>
              </a:rPr>
              <a:t>lq</a:t>
            </a:r>
            <a:r>
              <a:rPr dirty="0">
                <a:latin typeface="Courier"/>
              </a:rPr>
              <a:t>       mean    median       </a:t>
            </a:r>
            <a:r>
              <a:rPr dirty="0" err="1">
                <a:latin typeface="Courier"/>
              </a:rPr>
              <a:t>uq</a:t>
            </a:r>
            <a:r>
              <a:rPr dirty="0">
                <a:latin typeface="Courier"/>
              </a:rPr>
              <a:t>      max </a:t>
            </a:r>
            <a:r>
              <a:rPr dirty="0" err="1">
                <a:latin typeface="Courier"/>
              </a:rPr>
              <a:t>neval</a:t>
            </a:r>
            <a:r>
              <a:rPr dirty="0">
                <a:latin typeface="Courier"/>
              </a:rPr>
              <a:t>
1     </a:t>
            </a:r>
            <a:r>
              <a:rPr dirty="0" err="1">
                <a:latin typeface="Courier"/>
              </a:rPr>
              <a:t>Burbuja</a:t>
            </a:r>
            <a:r>
              <a:rPr dirty="0">
                <a:latin typeface="Courier"/>
              </a:rPr>
              <a:t> 13284.90 13570.40 15880.4784 13632.550 15586.81 23327.73     5
2 </a:t>
            </a:r>
            <a:r>
              <a:rPr dirty="0" err="1">
                <a:latin typeface="Courier"/>
              </a:rPr>
              <a:t>Sort_Nativo</a:t>
            </a:r>
            <a:r>
              <a:rPr dirty="0">
                <a:latin typeface="Courier"/>
              </a:rPr>
              <a:t>    59.76    81.03   124.8738    91.189   141.72   250.67     5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Conclusión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270000" lvl="0" indent="0">
                  <a:buNone/>
                </a:pPr>
                <a:r>
                  <a:rPr sz="2000"/>
                  <a:t>La diferencia es tan grande porque la Burbuja tiene una complejidad </a:t>
                </a:r>
                <a:r>
                  <a:rPr sz="2000" b="1"/>
                  <a:t>cuadrática</a:t>
                </a:r>
                <a:r>
                  <a:rPr sz="200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000"/>
                  <a:t>, lo que significa que si duplicamos los datos, el tiempo se cuadriplica. En cambio, el </a:t>
                </a:r>
                <a:r>
                  <a:rPr sz="2000">
                    <a:latin typeface="Courier"/>
                  </a:rPr>
                  <a:t>sort()</a:t>
                </a:r>
                <a:r>
                  <a:rPr sz="2000"/>
                  <a:t> nativo de R usa algoritmos mucho más eficientes como QuickSort y está programado en </a:t>
                </a:r>
                <a:r>
                  <a:rPr sz="2000" b="1"/>
                  <a:t>C</a:t>
                </a:r>
                <a:r>
                  <a:rPr sz="2000"/>
                  <a:t>, un lenguaje de mucho más bajo nivel y más rápido que el código R puro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7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379</Words>
  <Application>Microsoft Office PowerPoint</Application>
  <PresentationFormat>Presentación en pantalla (16:9)</PresentationFormat>
  <Paragraphs>18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Courier</vt:lpstr>
      <vt:lpstr>Office Theme</vt:lpstr>
      <vt:lpstr>Burbuja vs Sort Nativo en R</vt:lpstr>
      <vt:lpstr>¿Qué comparamos?</vt:lpstr>
      <vt:lpstr>Preparación</vt:lpstr>
      <vt:lpstr>El algoritmo Burbuja</vt:lpstr>
      <vt:lpstr>La prueba de rendimiento</vt:lpstr>
      <vt:lpstr>Visualización</vt:lpstr>
      <vt:lpstr>Resultados en números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Burbuja vs Sort Nativo en R</dc:title>
  <dc:creator>Clasica y Moderna</dc:creator>
  <cp:keywords/>
  <cp:lastModifiedBy>Julian Zoia</cp:lastModifiedBy>
  <cp:revision>1</cp:revision>
  <dcterms:created xsi:type="dcterms:W3CDTF">2026-04-29T18:20:20Z</dcterms:created>
  <dcterms:modified xsi:type="dcterms:W3CDTF">2026-04-29T18:23:02Z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